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9" r:id="rId3"/>
    <p:sldId id="260" r:id="rId4"/>
    <p:sldId id="261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695" autoAdjust="0"/>
    <p:restoredTop sz="94660"/>
  </p:normalViewPr>
  <p:slideViewPr>
    <p:cSldViewPr snapToGrid="0">
      <p:cViewPr>
        <p:scale>
          <a:sx n="60" d="100"/>
          <a:sy n="60" d="100"/>
        </p:scale>
        <p:origin x="1264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419485-5C0F-4F55-814F-8AD151128C37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537F77-117D-44CD-904A-16946463CF3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0589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12A8A-BEDC-51C9-68EB-BD2CDD3B9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B40BF5-FF04-18CF-55EC-DAFD5BD5E5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ADCD89-B890-32F6-12F9-C60B6D62C4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04FFB-23B2-F837-7512-1E8ACDBAB5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37F77-117D-44CD-904A-16946463CF3A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7151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31838-DEC5-4200-2E60-E52B86DCA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8BE047-0769-7645-416E-54582F8194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036376-262D-D88F-7F09-30E8A7BC1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C2E7A-6B14-8DCC-41F2-17B80CF23C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37F77-117D-44CD-904A-16946463CF3A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4135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702CB-AB25-29E1-B6A3-1D711E14C1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43E49D-C5FE-1D7F-95DF-04428504C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2C53-60CA-22B7-59FB-9A9C28516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CA7D-76F9-460B-B34E-283F8FA87CFD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FF2C4-C1C7-ECA8-FAAD-D966934CE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7F17C-CB98-5DC0-9BAD-E6C81DB91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459B-2D82-4CD8-84C8-677E8D03308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4863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9E15-B35A-8B88-81C2-6412B1F3E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773AD-B0F2-AECD-8110-A85EE0BCE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6734C-65A9-1002-BB2C-4767CBB99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CA7D-76F9-460B-B34E-283F8FA87CFD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20A95-080B-BEA9-C1B9-B3ED95D61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A971-98C1-0691-7829-22AAB95B6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459B-2D82-4CD8-84C8-677E8D03308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2137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D562F-74CB-0D0F-B007-F0A3C3822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C655E8-3BEA-624F-F724-CCD890161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DB207-8084-9FFD-4D42-038157B26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CA7D-76F9-460B-B34E-283F8FA87CFD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37DAF-3DD6-8134-ECE5-9E6CF8AD3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61F05-7EE0-734A-CFCB-E1A16E8DA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459B-2D82-4CD8-84C8-677E8D03308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99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1DCC7-3533-46AD-2352-39151F504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C3B40-FACF-8728-302F-C8E9D232AC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F141C4-0231-3832-1CD7-7246F335D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08582-86B9-5F05-9896-D1F96887B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CA7D-76F9-460B-B34E-283F8FA87CFD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221592-A4F0-BA66-12CC-46134ADE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9061A-8775-65CA-4AD3-3B96D1910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459B-2D82-4CD8-84C8-677E8D03308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7040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5FDA7-4C9F-D9AA-22DD-78E6E742E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89195-E317-CC7B-768E-14847057A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F75448-3342-C40D-0F37-F2F196973F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659B0B-A03B-D405-95EE-2355BF80AE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A0CA72-35DE-0FAC-6669-31C481C45E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E4FDCC-DC6C-BD58-7756-CE911D712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CA7D-76F9-460B-B34E-283F8FA87CFD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A1F9C6-737C-5397-87E5-5B867D67F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A09AE9-69EA-3726-9C17-6636EA4F0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459B-2D82-4CD8-84C8-677E8D03308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5493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F37A0-5CE9-801A-E407-D07DB7F66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063A7-A0F7-F69D-77AF-005FD26BA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CA7D-76F9-460B-B34E-283F8FA87CFD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A6AB5B-67F6-3F58-A8C6-8550AD0A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5B4553-708C-83ED-7B6F-9F1F40C1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459B-2D82-4CD8-84C8-677E8D03308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9173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4A0949-51DE-9AD8-50D3-C0302D927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CA7D-76F9-460B-B34E-283F8FA87CFD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FDA0D-ACF8-4A01-EF4B-2FCB2ACA6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BB492-D199-B192-C382-910742B8E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459B-2D82-4CD8-84C8-677E8D03308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4443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B711C-7011-50D9-A462-3362C0A74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9B8A9-0D12-6038-2BCA-BEE14D85E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089E00-4EA5-9A15-2A51-0D97904F85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2E258-0B64-CB1F-C8CF-D301144AF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CA7D-76F9-460B-B34E-283F8FA87CFD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BE9B4-DA54-391B-BFB5-8EB47FB6D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43CE8-3726-F08A-47A5-9A9D741DB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459B-2D82-4CD8-84C8-677E8D03308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5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2118D-96DD-219D-4CC8-3FDABC24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9325D5-B8A6-F21D-F473-A242F08092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E21B55-29AB-06B6-ADAB-C3C3A0CB1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E6E1C8-47A6-9DC7-2FFB-2CE768A19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CA7D-76F9-460B-B34E-283F8FA87CFD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E61DD-477F-D4ED-5A28-AE539649D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9541F-742B-E6E6-07AA-1B9CD874A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459B-2D82-4CD8-84C8-677E8D03308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5960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577EA-19BF-3823-D195-706ED51EA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20A4B0-87F1-356D-B505-4DB4B9E51A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BCB49-E2F1-221F-1E75-04B97671F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CA7D-76F9-460B-B34E-283F8FA87CFD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81D45-476B-19DC-ADF1-EB37BABE5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58A76-9201-0B1A-ECE6-749744F6C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459B-2D82-4CD8-84C8-677E8D03308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0914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CBA66C-74AC-7F85-C794-1C934D4640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34046-D493-6994-3A28-82921F5C7E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711A9-6A71-4025-1BD5-F485FFD88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CA7D-76F9-460B-B34E-283F8FA87CFD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0E541-B2BB-B857-EE6E-D3CABD34A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677FB-CA3B-743D-B566-7B1F65E94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459B-2D82-4CD8-84C8-677E8D03308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4834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459B94-E14F-6587-30A2-F9222610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2656B-20D9-69E8-9AD2-A3EA225BE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06AAB-A71C-1E89-43A0-73B919724F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CCA7D-76F9-460B-B34E-283F8FA87CFD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4166F-3C7A-8AC7-69D0-45B6852066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F5F1E-3AAB-518C-D245-7685B4FA1F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C459B-2D82-4CD8-84C8-677E8D03308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748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apme-initiative.github.io/project_location_model/annex1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onfluence.kfw.kfwgruppe.net/spaces/BBFZU/pages/539501281/Capacity+building+resources?preview=/539501281/572796738/QGIS-create-GeoJSONs-v0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apme-initiative.github.io/project_location_model/project-location-validator/index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mapme-initiative.github.io/project_location_model/project-location-validator/index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opendata.oda.kfw.de/catalogue/#/geostory/1899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758A8-813C-89C4-9B5A-B1938C642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roup 125">
            <a:extLst>
              <a:ext uri="{FF2B5EF4-FFF2-40B4-BE49-F238E27FC236}">
                <a16:creationId xmlns:a16="http://schemas.microsoft.com/office/drawing/2014/main" id="{FB471A41-D395-D642-ACBF-F2D1791E806D}"/>
              </a:ext>
            </a:extLst>
          </p:cNvPr>
          <p:cNvGrpSpPr/>
          <p:nvPr/>
        </p:nvGrpSpPr>
        <p:grpSpPr>
          <a:xfrm>
            <a:off x="1557761" y="2092075"/>
            <a:ext cx="9076477" cy="2673849"/>
            <a:chOff x="2168467" y="2092075"/>
            <a:chExt cx="9076477" cy="2673849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68F4895-18AD-4527-F8FC-FDF2E616BB76}"/>
                </a:ext>
              </a:extLst>
            </p:cNvPr>
            <p:cNvSpPr txBox="1"/>
            <p:nvPr/>
          </p:nvSpPr>
          <p:spPr>
            <a:xfrm>
              <a:off x="7409490" y="2092075"/>
              <a:ext cx="383545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b="1" dirty="0"/>
                <a:t>Who </a:t>
              </a:r>
              <a:r>
                <a:rPr lang="de-DE" sz="1600" b="1" dirty="0" err="1"/>
                <a:t>develops</a:t>
              </a:r>
              <a:r>
                <a:rPr lang="de-DE" sz="1600" b="1" dirty="0"/>
                <a:t> &amp; </a:t>
              </a:r>
              <a:r>
                <a:rPr lang="de-DE" sz="1600" b="1" dirty="0" err="1"/>
                <a:t>maintains</a:t>
              </a:r>
              <a:r>
                <a:rPr lang="de-DE" sz="1600" b="1" dirty="0"/>
                <a:t> </a:t>
              </a:r>
              <a:r>
                <a:rPr lang="de-DE" sz="1600" b="1" dirty="0" err="1"/>
                <a:t>the</a:t>
              </a:r>
              <a:r>
                <a:rPr lang="de-DE" sz="1600" b="1" dirty="0"/>
                <a:t> </a:t>
              </a:r>
              <a:r>
                <a:rPr lang="de-DE" sz="1600" b="1" dirty="0" err="1"/>
                <a:t>data</a:t>
              </a:r>
              <a:r>
                <a:rPr lang="de-DE" sz="1600" b="1" dirty="0"/>
                <a:t> </a:t>
              </a:r>
              <a:r>
                <a:rPr lang="de-DE" sz="1600" b="1" dirty="0" err="1"/>
                <a:t>model</a:t>
              </a:r>
              <a:r>
                <a:rPr lang="de-DE" sz="1600" b="1" dirty="0"/>
                <a:t>/ </a:t>
              </a:r>
              <a:r>
                <a:rPr lang="de-DE" sz="1600" b="1" dirty="0" err="1"/>
                <a:t>tool</a:t>
              </a:r>
              <a:r>
                <a:rPr lang="de-DE" sz="1600" b="1" dirty="0"/>
                <a:t>/ </a:t>
              </a:r>
              <a:r>
                <a:rPr lang="de-DE" sz="1600" b="1" dirty="0" err="1"/>
                <a:t>platform</a:t>
              </a:r>
              <a:r>
                <a:rPr lang="de-DE" sz="1600" b="1" dirty="0"/>
                <a:t> </a:t>
              </a:r>
              <a:r>
                <a:rPr lang="de-DE" sz="1600" dirty="0" err="1"/>
                <a:t>needed</a:t>
              </a:r>
              <a:r>
                <a:rPr lang="de-DE" sz="1600" dirty="0"/>
                <a:t> </a:t>
              </a:r>
              <a:r>
                <a:rPr lang="de-DE" sz="1600" dirty="0" err="1"/>
                <a:t>for</a:t>
              </a:r>
              <a:r>
                <a:rPr lang="de-DE" sz="1600" dirty="0"/>
                <a:t> </a:t>
              </a:r>
              <a:r>
                <a:rPr lang="de-DE" sz="1600" dirty="0" err="1"/>
                <a:t>the</a:t>
              </a:r>
              <a:r>
                <a:rPr lang="de-DE" sz="1600" dirty="0"/>
                <a:t> </a:t>
              </a:r>
              <a:r>
                <a:rPr lang="de-DE" sz="1600" dirty="0" err="1"/>
                <a:t>specific</a:t>
              </a:r>
              <a:r>
                <a:rPr lang="de-DE" sz="1600" dirty="0"/>
                <a:t> </a:t>
              </a:r>
              <a:r>
                <a:rPr lang="de-DE" sz="1600" dirty="0" err="1"/>
                <a:t>step</a:t>
              </a:r>
              <a:endParaRPr lang="de-DE" sz="1600" dirty="0"/>
            </a:p>
          </p:txBody>
        </p: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40E28EF1-A738-3CB7-33AD-6F8E2927021C}"/>
                </a:ext>
              </a:extLst>
            </p:cNvPr>
            <p:cNvGrpSpPr/>
            <p:nvPr/>
          </p:nvGrpSpPr>
          <p:grpSpPr>
            <a:xfrm>
              <a:off x="2168467" y="2092076"/>
              <a:ext cx="7855066" cy="2673848"/>
              <a:chOff x="1799240" y="1570627"/>
              <a:chExt cx="7855066" cy="2673848"/>
            </a:xfrm>
          </p:grpSpPr>
          <p:sp>
            <p:nvSpPr>
              <p:cNvPr id="23" name="Diamond 22">
                <a:extLst>
                  <a:ext uri="{FF2B5EF4-FFF2-40B4-BE49-F238E27FC236}">
                    <a16:creationId xmlns:a16="http://schemas.microsoft.com/office/drawing/2014/main" id="{345D4BE9-EF7F-BED3-A7E3-FFAE73559D80}"/>
                  </a:ext>
                </a:extLst>
              </p:cNvPr>
              <p:cNvSpPr/>
              <p:nvPr/>
            </p:nvSpPr>
            <p:spPr>
              <a:xfrm flipV="1">
                <a:off x="7044709" y="2836045"/>
                <a:ext cx="447819" cy="447819"/>
              </a:xfrm>
              <a:prstGeom prst="diamond">
                <a:avLst/>
              </a:prstGeom>
              <a:solidFill>
                <a:schemeClr val="bg1">
                  <a:lumMod val="65000"/>
                  <a:alpha val="40000"/>
                </a:schemeClr>
              </a:solidFill>
              <a:ln w="698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3" name="Diamond 112">
                <a:extLst>
                  <a:ext uri="{FF2B5EF4-FFF2-40B4-BE49-F238E27FC236}">
                    <a16:creationId xmlns:a16="http://schemas.microsoft.com/office/drawing/2014/main" id="{F6B5ADAF-B33C-5414-A393-5B0429858AA1}"/>
                  </a:ext>
                </a:extLst>
              </p:cNvPr>
              <p:cNvSpPr/>
              <p:nvPr/>
            </p:nvSpPr>
            <p:spPr>
              <a:xfrm>
                <a:off x="1940338" y="2490929"/>
                <a:ext cx="452266" cy="452266"/>
              </a:xfrm>
              <a:prstGeom prst="diamond">
                <a:avLst/>
              </a:prstGeom>
              <a:noFill/>
              <a:ln w="6985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467A9C43-04D0-16F4-723B-E3E4C3EF3A24}"/>
                  </a:ext>
                </a:extLst>
              </p:cNvPr>
              <p:cNvSpPr txBox="1"/>
              <p:nvPr/>
            </p:nvSpPr>
            <p:spPr>
              <a:xfrm>
                <a:off x="2581238" y="2555345"/>
                <a:ext cx="285352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600" dirty="0"/>
                  <a:t>PIA/ external </a:t>
                </a:r>
                <a:r>
                  <a:rPr lang="de-DE" sz="1600" dirty="0" err="1"/>
                  <a:t>consultant</a:t>
                </a:r>
                <a:endParaRPr lang="de-DE" sz="1600" dirty="0"/>
              </a:p>
            </p:txBody>
          </p:sp>
          <p:sp>
            <p:nvSpPr>
              <p:cNvPr id="116" name="Diamond 115">
                <a:extLst>
                  <a:ext uri="{FF2B5EF4-FFF2-40B4-BE49-F238E27FC236}">
                    <a16:creationId xmlns:a16="http://schemas.microsoft.com/office/drawing/2014/main" id="{08F4F831-962B-2BCB-C161-85AA63C163EA}"/>
                  </a:ext>
                </a:extLst>
              </p:cNvPr>
              <p:cNvSpPr/>
              <p:nvPr/>
            </p:nvSpPr>
            <p:spPr>
              <a:xfrm>
                <a:off x="1940338" y="3133532"/>
                <a:ext cx="452266" cy="452266"/>
              </a:xfrm>
              <a:prstGeom prst="diamond">
                <a:avLst/>
              </a:prstGeom>
              <a:noFill/>
              <a:ln w="698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A4F8DA9B-239B-2FB1-B0A6-A0E41E94CA6F}"/>
                  </a:ext>
                </a:extLst>
              </p:cNvPr>
              <p:cNvSpPr txBox="1"/>
              <p:nvPr/>
            </p:nvSpPr>
            <p:spPr>
              <a:xfrm>
                <a:off x="2581237" y="3113507"/>
                <a:ext cx="373252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600" dirty="0"/>
                  <a:t>KfW </a:t>
                </a:r>
                <a:r>
                  <a:rPr lang="de-DE" sz="1600" dirty="0" err="1"/>
                  <a:t>operations</a:t>
                </a:r>
                <a:r>
                  <a:rPr lang="de-DE" sz="1600" dirty="0"/>
                  <a:t> (PM/ PA)</a:t>
                </a:r>
              </a:p>
              <a:p>
                <a:r>
                  <a:rPr lang="de-DE" sz="1600" i="1" dirty="0" err="1"/>
                  <a:t>Specific</a:t>
                </a:r>
                <a:r>
                  <a:rPr lang="de-DE" sz="1600" i="1" dirty="0"/>
                  <a:t> </a:t>
                </a:r>
                <a:r>
                  <a:rPr lang="de-DE" sz="1600" i="1" dirty="0" err="1"/>
                  <a:t>responsibilities</a:t>
                </a:r>
                <a:r>
                  <a:rPr lang="de-DE" sz="1600" i="1" dirty="0"/>
                  <a:t> </a:t>
                </a:r>
                <a:r>
                  <a:rPr lang="de-DE" sz="1600" i="1" dirty="0" err="1"/>
                  <a:t>vary</a:t>
                </a:r>
                <a:r>
                  <a:rPr lang="de-DE" sz="1600" i="1" dirty="0"/>
                  <a:t> </a:t>
                </a:r>
                <a:r>
                  <a:rPr lang="de-DE" sz="1600" i="1" dirty="0" err="1"/>
                  <a:t>by</a:t>
                </a:r>
                <a:r>
                  <a:rPr lang="de-DE" sz="1600" i="1" dirty="0"/>
                  <a:t> </a:t>
                </a:r>
                <a:r>
                  <a:rPr lang="de-DE" sz="1600" i="1" dirty="0" err="1"/>
                  <a:t>team</a:t>
                </a:r>
                <a:endParaRPr lang="de-DE" sz="1600" i="1" dirty="0"/>
              </a:p>
            </p:txBody>
          </p:sp>
          <p:sp>
            <p:nvSpPr>
              <p:cNvPr id="118" name="Diamond 117">
                <a:extLst>
                  <a:ext uri="{FF2B5EF4-FFF2-40B4-BE49-F238E27FC236}">
                    <a16:creationId xmlns:a16="http://schemas.microsoft.com/office/drawing/2014/main" id="{B0D2A90E-24E0-C802-62E6-5DEB2ECFA387}"/>
                  </a:ext>
                </a:extLst>
              </p:cNvPr>
              <p:cNvSpPr/>
              <p:nvPr/>
            </p:nvSpPr>
            <p:spPr>
              <a:xfrm>
                <a:off x="1935036" y="3792209"/>
                <a:ext cx="452266" cy="452266"/>
              </a:xfrm>
              <a:prstGeom prst="diamond">
                <a:avLst/>
              </a:prstGeom>
              <a:noFill/>
              <a:ln w="698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1EB2F598-4437-10CB-5F52-A1A276D8ED0D}"/>
                  </a:ext>
                </a:extLst>
              </p:cNvPr>
              <p:cNvSpPr txBox="1"/>
              <p:nvPr/>
            </p:nvSpPr>
            <p:spPr>
              <a:xfrm>
                <a:off x="2612924" y="3862276"/>
                <a:ext cx="19539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600" dirty="0"/>
                  <a:t>IDV (Geodata-Desk)</a:t>
                </a: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3D6B68E-B794-5DFD-CE9A-05045CAAF555}"/>
                  </a:ext>
                </a:extLst>
              </p:cNvPr>
              <p:cNvSpPr txBox="1"/>
              <p:nvPr/>
            </p:nvSpPr>
            <p:spPr>
              <a:xfrm>
                <a:off x="1799240" y="1570627"/>
                <a:ext cx="451452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600" b="1" dirty="0"/>
                  <a:t>Who </a:t>
                </a:r>
                <a:r>
                  <a:rPr lang="de-DE" sz="1600" b="1" dirty="0" err="1"/>
                  <a:t>performs</a:t>
                </a:r>
                <a:r>
                  <a:rPr lang="de-DE" sz="1600" b="1" dirty="0"/>
                  <a:t> </a:t>
                </a:r>
                <a:r>
                  <a:rPr lang="de-DE" sz="1600" b="1" dirty="0" err="1"/>
                  <a:t>the</a:t>
                </a:r>
                <a:r>
                  <a:rPr lang="de-DE" sz="1600" b="1" dirty="0"/>
                  <a:t> </a:t>
                </a:r>
                <a:r>
                  <a:rPr lang="de-DE" sz="1600" b="1" dirty="0" err="1"/>
                  <a:t>specific</a:t>
                </a:r>
                <a:r>
                  <a:rPr lang="de-DE" sz="1600" b="1" dirty="0"/>
                  <a:t> </a:t>
                </a:r>
                <a:r>
                  <a:rPr lang="de-DE" sz="1600" b="1" dirty="0" err="1"/>
                  <a:t>step</a:t>
                </a:r>
                <a:r>
                  <a:rPr lang="de-DE" sz="1600" b="1" dirty="0"/>
                  <a:t> </a:t>
                </a:r>
                <a:br>
                  <a:rPr lang="de-DE" sz="1600" b="1" dirty="0"/>
                </a:br>
                <a:r>
                  <a:rPr lang="de-DE" sz="1600" dirty="0"/>
                  <a:t>in </a:t>
                </a:r>
                <a:r>
                  <a:rPr lang="de-DE" sz="1600" dirty="0" err="1"/>
                  <a:t>the</a:t>
                </a:r>
                <a:r>
                  <a:rPr lang="de-DE" sz="1600" dirty="0"/>
                  <a:t> Project Locations update </a:t>
                </a:r>
                <a:r>
                  <a:rPr lang="de-DE" sz="1600" dirty="0" err="1"/>
                  <a:t>workflow</a:t>
                </a:r>
                <a:endParaRPr lang="de-DE" sz="1600" dirty="0"/>
              </a:p>
            </p:txBody>
          </p:sp>
          <p:sp>
            <p:nvSpPr>
              <p:cNvPr id="123" name="Diamond 122">
                <a:extLst>
                  <a:ext uri="{FF2B5EF4-FFF2-40B4-BE49-F238E27FC236}">
                    <a16:creationId xmlns:a16="http://schemas.microsoft.com/office/drawing/2014/main" id="{E3768ADC-2764-4047-EFFA-11DD76665A59}"/>
                  </a:ext>
                </a:extLst>
              </p:cNvPr>
              <p:cNvSpPr/>
              <p:nvPr/>
            </p:nvSpPr>
            <p:spPr>
              <a:xfrm>
                <a:off x="7040262" y="3476243"/>
                <a:ext cx="452266" cy="452266"/>
              </a:xfrm>
              <a:prstGeom prst="diamond">
                <a:avLst/>
              </a:prstGeom>
              <a:solidFill>
                <a:srgbClr val="0070C0">
                  <a:alpha val="40000"/>
                </a:srgbClr>
              </a:solidFill>
              <a:ln w="698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ED9CA850-C762-4956-5961-8BD060BF5467}"/>
                  </a:ext>
                </a:extLst>
              </p:cNvPr>
              <p:cNvSpPr txBox="1"/>
              <p:nvPr/>
            </p:nvSpPr>
            <p:spPr>
              <a:xfrm>
                <a:off x="7700318" y="3568287"/>
                <a:ext cx="19539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600" dirty="0"/>
                  <a:t>IDV (Geodata-Desk)</a:t>
                </a:r>
              </a:p>
            </p:txBody>
          </p:sp>
        </p:grp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2FD368FC-55F3-9FEB-98EF-D999F0A9A43E}"/>
              </a:ext>
            </a:extLst>
          </p:cNvPr>
          <p:cNvSpPr txBox="1"/>
          <p:nvPr/>
        </p:nvSpPr>
        <p:spPr>
          <a:xfrm>
            <a:off x="7458839" y="3442903"/>
            <a:ext cx="1953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ZDV (Team DAI)</a:t>
            </a:r>
          </a:p>
        </p:txBody>
      </p:sp>
    </p:spTree>
    <p:extLst>
      <p:ext uri="{BB962C8B-B14F-4D97-AF65-F5344CB8AC3E}">
        <p14:creationId xmlns:p14="http://schemas.microsoft.com/office/powerpoint/2010/main" val="2059633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33BEE-6BA6-03E3-01AC-379D5FB5E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8E05FB1A-F239-4950-FBCD-0B5582941B74}"/>
              </a:ext>
            </a:extLst>
          </p:cNvPr>
          <p:cNvGrpSpPr/>
          <p:nvPr/>
        </p:nvGrpSpPr>
        <p:grpSpPr>
          <a:xfrm>
            <a:off x="820461" y="370657"/>
            <a:ext cx="10551078" cy="6116685"/>
            <a:chOff x="862694" y="188825"/>
            <a:chExt cx="10551078" cy="6116685"/>
          </a:xfrm>
        </p:grpSpPr>
        <p:sp>
          <p:nvSpPr>
            <p:cNvPr id="3" name="Diamond 2">
              <a:extLst>
                <a:ext uri="{FF2B5EF4-FFF2-40B4-BE49-F238E27FC236}">
                  <a16:creationId xmlns:a16="http://schemas.microsoft.com/office/drawing/2014/main" id="{B2C37FA8-5E26-D16D-E588-E15D268E8BFC}"/>
                </a:ext>
              </a:extLst>
            </p:cNvPr>
            <p:cNvSpPr/>
            <p:nvPr/>
          </p:nvSpPr>
          <p:spPr>
            <a:xfrm>
              <a:off x="957947" y="188825"/>
              <a:ext cx="1763484" cy="1763484"/>
            </a:xfrm>
            <a:prstGeom prst="diamond">
              <a:avLst/>
            </a:prstGeom>
            <a:solidFill>
              <a:schemeClr val="tx2">
                <a:lumMod val="75000"/>
                <a:lumOff val="25000"/>
                <a:alpha val="40000"/>
              </a:schemeClr>
            </a:solidFill>
            <a:ln w="698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b="1" dirty="0">
                  <a:solidFill>
                    <a:schemeClr val="tx1"/>
                  </a:solidFill>
                </a:rPr>
                <a:t>COLLECT</a:t>
              </a:r>
              <a:r>
                <a:rPr lang="de-DE" sz="1100" dirty="0">
                  <a:solidFill>
                    <a:schemeClr val="tx1"/>
                  </a:solidFill>
                </a:rPr>
                <a:t> (Project Locations Model)</a:t>
              </a:r>
            </a:p>
          </p:txBody>
        </p:sp>
        <p:sp>
          <p:nvSpPr>
            <p:cNvPr id="23" name="Diamond 22">
              <a:extLst>
                <a:ext uri="{FF2B5EF4-FFF2-40B4-BE49-F238E27FC236}">
                  <a16:creationId xmlns:a16="http://schemas.microsoft.com/office/drawing/2014/main" id="{EFA6CA42-B615-BA6A-F792-5D07DC6E575A}"/>
                </a:ext>
              </a:extLst>
            </p:cNvPr>
            <p:cNvSpPr/>
            <p:nvPr/>
          </p:nvSpPr>
          <p:spPr>
            <a:xfrm>
              <a:off x="5214259" y="188825"/>
              <a:ext cx="1763484" cy="1763484"/>
            </a:xfrm>
            <a:prstGeom prst="diamond">
              <a:avLst/>
            </a:prstGeom>
            <a:solidFill>
              <a:schemeClr val="bg1">
                <a:lumMod val="65000"/>
                <a:alpha val="40000"/>
              </a:schemeClr>
            </a:solidFill>
            <a:ln w="698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b="1" dirty="0">
                  <a:solidFill>
                    <a:schemeClr val="tx1"/>
                  </a:solidFill>
                </a:rPr>
                <a:t>VALIDATE</a:t>
              </a:r>
              <a:r>
                <a:rPr lang="de-DE" sz="1100" dirty="0">
                  <a:solidFill>
                    <a:schemeClr val="tx1"/>
                  </a:solidFill>
                </a:rPr>
                <a:t> (online </a:t>
              </a:r>
              <a:r>
                <a:rPr lang="de-DE" sz="1100" dirty="0" err="1">
                  <a:solidFill>
                    <a:schemeClr val="tx1"/>
                  </a:solidFill>
                </a:rPr>
                <a:t>validator</a:t>
              </a:r>
              <a:r>
                <a:rPr lang="de-DE" sz="1100" dirty="0">
                  <a:solidFill>
                    <a:schemeClr val="tx1"/>
                  </a:solidFill>
                </a:rPr>
                <a:t>)</a:t>
              </a:r>
            </a:p>
          </p:txBody>
        </p:sp>
        <p:sp>
          <p:nvSpPr>
            <p:cNvPr id="24" name="Rechteck: diagonal liegende Ecken abgeschnitten 3">
              <a:extLst>
                <a:ext uri="{FF2B5EF4-FFF2-40B4-BE49-F238E27FC236}">
                  <a16:creationId xmlns:a16="http://schemas.microsoft.com/office/drawing/2014/main" id="{FD8C4393-A291-0BE7-2E18-05F61777BC54}"/>
                </a:ext>
              </a:extLst>
            </p:cNvPr>
            <p:cNvSpPr/>
            <p:nvPr/>
          </p:nvSpPr>
          <p:spPr>
            <a:xfrm>
              <a:off x="3173188" y="554040"/>
              <a:ext cx="1589315" cy="1033055"/>
            </a:xfrm>
            <a:prstGeom prst="snip2DiagRect">
              <a:avLst/>
            </a:prstGeom>
            <a:solidFill>
              <a:schemeClr val="bg1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394" b="1" dirty="0">
                  <a:solidFill>
                    <a:schemeClr val="tx1"/>
                  </a:solidFill>
                </a:rPr>
                <a:t>Project-level </a:t>
              </a:r>
              <a:r>
                <a:rPr lang="de-DE" sz="1394" b="1" dirty="0" err="1">
                  <a:solidFill>
                    <a:schemeClr val="tx1"/>
                  </a:solidFill>
                </a:rPr>
                <a:t>locations</a:t>
              </a:r>
              <a:endParaRPr lang="de-DE" sz="1394" b="1" dirty="0">
                <a:solidFill>
                  <a:schemeClr val="tx1"/>
                </a:solidFill>
              </a:endParaRPr>
            </a:p>
            <a:p>
              <a:pPr algn="ctr"/>
              <a:r>
                <a:rPr lang="de-DE" sz="1394" dirty="0">
                  <a:solidFill>
                    <a:schemeClr val="tx1"/>
                  </a:solidFill>
                </a:rPr>
                <a:t>(multi-</a:t>
              </a:r>
              <a:r>
                <a:rPr lang="de-DE" sz="1394" dirty="0" err="1">
                  <a:solidFill>
                    <a:schemeClr val="tx1"/>
                  </a:solidFill>
                </a:rPr>
                <a:t>geometry</a:t>
              </a:r>
              <a:r>
                <a:rPr lang="de-DE" sz="1394" dirty="0">
                  <a:solidFill>
                    <a:schemeClr val="tx1"/>
                  </a:solidFill>
                </a:rPr>
                <a:t>)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0186710-BB93-E45E-D06C-7B61A14D4F31}"/>
                </a:ext>
              </a:extLst>
            </p:cNvPr>
            <p:cNvSpPr txBox="1"/>
            <p:nvPr/>
          </p:nvSpPr>
          <p:spPr>
            <a:xfrm>
              <a:off x="2990851" y="1599111"/>
              <a:ext cx="19539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dirty="0"/>
                <a:t>Excel </a:t>
              </a:r>
              <a:r>
                <a:rPr lang="de-DE" sz="1200" dirty="0" err="1"/>
                <a:t>or</a:t>
              </a:r>
              <a:r>
                <a:rPr lang="de-DE" sz="1200" dirty="0"/>
                <a:t> </a:t>
              </a:r>
              <a:r>
                <a:rPr lang="de-DE" sz="1200" dirty="0" err="1"/>
                <a:t>GeoJson</a:t>
              </a:r>
              <a:r>
                <a:rPr lang="de-DE" sz="1200" dirty="0"/>
                <a:t> </a:t>
              </a:r>
              <a:r>
                <a:rPr lang="de-DE" sz="1200" dirty="0" err="1"/>
                <a:t>format</a:t>
              </a:r>
              <a:endParaRPr lang="de-DE" sz="1200" dirty="0"/>
            </a:p>
          </p:txBody>
        </p:sp>
        <p:sp>
          <p:nvSpPr>
            <p:cNvPr id="29" name="Rechteck: diagonal liegende Ecken abgeschnitten 3">
              <a:extLst>
                <a:ext uri="{FF2B5EF4-FFF2-40B4-BE49-F238E27FC236}">
                  <a16:creationId xmlns:a16="http://schemas.microsoft.com/office/drawing/2014/main" id="{553EC5BB-CEE6-C970-87E0-1E212820026E}"/>
                </a:ext>
              </a:extLst>
            </p:cNvPr>
            <p:cNvSpPr/>
            <p:nvPr/>
          </p:nvSpPr>
          <p:spPr>
            <a:xfrm>
              <a:off x="7429499" y="554040"/>
              <a:ext cx="1589315" cy="1033055"/>
            </a:xfrm>
            <a:prstGeom prst="snip2DiagRect">
              <a:avLst/>
            </a:prstGeom>
            <a:solidFill>
              <a:schemeClr val="bg1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394" b="1" dirty="0" err="1">
                  <a:solidFill>
                    <a:schemeClr val="tx1"/>
                  </a:solidFill>
                </a:rPr>
                <a:t>Validated</a:t>
              </a:r>
              <a:r>
                <a:rPr lang="de-DE" sz="1394" b="1" dirty="0">
                  <a:solidFill>
                    <a:schemeClr val="tx1"/>
                  </a:solidFill>
                </a:rPr>
                <a:t> Project-level Locations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F7F5900-F4BF-ADCC-6ABA-84C0519673E7}"/>
                </a:ext>
              </a:extLst>
            </p:cNvPr>
            <p:cNvSpPr txBox="1"/>
            <p:nvPr/>
          </p:nvSpPr>
          <p:spPr>
            <a:xfrm>
              <a:off x="8912675" y="747401"/>
              <a:ext cx="19539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dirty="0" err="1"/>
                <a:t>GeoJson</a:t>
              </a:r>
              <a:r>
                <a:rPr lang="de-DE" sz="1200" dirty="0"/>
                <a:t> </a:t>
              </a:r>
              <a:r>
                <a:rPr lang="de-DE" sz="1200" dirty="0" err="1"/>
                <a:t>format</a:t>
              </a:r>
              <a:r>
                <a:rPr lang="de-DE" sz="1200" dirty="0"/>
                <a:t> </a:t>
              </a:r>
              <a:r>
                <a:rPr lang="de-DE" sz="1200" dirty="0" err="1"/>
                <a:t>with</a:t>
              </a:r>
              <a:r>
                <a:rPr lang="de-DE" sz="1200" dirty="0"/>
                <a:t> </a:t>
              </a:r>
              <a:r>
                <a:rPr lang="de-DE" sz="1200" dirty="0" err="1"/>
                <a:t>timestamp</a:t>
              </a:r>
              <a:r>
                <a:rPr lang="de-DE" sz="1200" dirty="0"/>
                <a:t> + </a:t>
              </a:r>
              <a:r>
                <a:rPr lang="de-DE" sz="1200" dirty="0" err="1"/>
                <a:t>unique</a:t>
              </a:r>
              <a:r>
                <a:rPr lang="de-DE" sz="1200" dirty="0"/>
                <a:t> </a:t>
              </a:r>
              <a:r>
                <a:rPr lang="de-DE" sz="1200" dirty="0" err="1"/>
                <a:t>filename</a:t>
              </a:r>
              <a:r>
                <a:rPr lang="de-DE" sz="1200" dirty="0"/>
                <a:t> </a:t>
              </a:r>
            </a:p>
          </p:txBody>
        </p:sp>
        <p:sp>
          <p:nvSpPr>
            <p:cNvPr id="31" name="Diamond 30">
              <a:extLst>
                <a:ext uri="{FF2B5EF4-FFF2-40B4-BE49-F238E27FC236}">
                  <a16:creationId xmlns:a16="http://schemas.microsoft.com/office/drawing/2014/main" id="{552B5743-5547-AD74-0C18-1F14AAF42B8B}"/>
                </a:ext>
              </a:extLst>
            </p:cNvPr>
            <p:cNvSpPr/>
            <p:nvPr/>
          </p:nvSpPr>
          <p:spPr>
            <a:xfrm>
              <a:off x="7297561" y="2034677"/>
              <a:ext cx="1853189" cy="1853189"/>
            </a:xfrm>
            <a:prstGeom prst="diamond">
              <a:avLst/>
            </a:prstGeom>
            <a:solidFill>
              <a:schemeClr val="bg1">
                <a:lumMod val="65000"/>
                <a:alpha val="40000"/>
              </a:schemeClr>
            </a:solidFill>
            <a:ln w="6985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900" b="1" dirty="0">
                  <a:solidFill>
                    <a:schemeClr val="tx1"/>
                  </a:solidFill>
                </a:rPr>
                <a:t>VISUAL PLAUSIBILITY CHECK </a:t>
              </a:r>
              <a:r>
                <a:rPr lang="de-DE" sz="900" dirty="0">
                  <a:solidFill>
                    <a:schemeClr val="tx1"/>
                  </a:solidFill>
                </a:rPr>
                <a:t>(online </a:t>
              </a:r>
              <a:r>
                <a:rPr lang="de-DE" sz="900" dirty="0" err="1">
                  <a:solidFill>
                    <a:schemeClr val="tx1"/>
                  </a:solidFill>
                </a:rPr>
                <a:t>validator</a:t>
              </a:r>
              <a:r>
                <a:rPr lang="de-DE" sz="900" dirty="0">
                  <a:solidFill>
                    <a:schemeClr val="tx1"/>
                  </a:solidFill>
                </a:rPr>
                <a:t>)</a:t>
              </a:r>
            </a:p>
          </p:txBody>
        </p:sp>
        <p:sp>
          <p:nvSpPr>
            <p:cNvPr id="37" name="Diamond 36">
              <a:extLst>
                <a:ext uri="{FF2B5EF4-FFF2-40B4-BE49-F238E27FC236}">
                  <a16:creationId xmlns:a16="http://schemas.microsoft.com/office/drawing/2014/main" id="{76264362-3D37-4536-C492-7C8A638E6D22}"/>
                </a:ext>
              </a:extLst>
            </p:cNvPr>
            <p:cNvSpPr/>
            <p:nvPr/>
          </p:nvSpPr>
          <p:spPr>
            <a:xfrm>
              <a:off x="9650288" y="2079529"/>
              <a:ext cx="1763484" cy="1763484"/>
            </a:xfrm>
            <a:prstGeom prst="diamond">
              <a:avLst/>
            </a:prstGeom>
            <a:solidFill>
              <a:schemeClr val="bg1">
                <a:lumMod val="65000"/>
                <a:alpha val="40000"/>
              </a:schemeClr>
            </a:solidFill>
            <a:ln w="6985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b="1" dirty="0">
                  <a:solidFill>
                    <a:schemeClr val="tx1"/>
                  </a:solidFill>
                </a:rPr>
                <a:t>UPLOAD DATA </a:t>
              </a:r>
              <a:r>
                <a:rPr lang="de-DE" sz="1100" dirty="0">
                  <a:solidFill>
                    <a:schemeClr val="tx1"/>
                  </a:solidFill>
                </a:rPr>
                <a:t>(Open Data </a:t>
              </a:r>
              <a:r>
                <a:rPr lang="de-DE" sz="1100" dirty="0" err="1">
                  <a:solidFill>
                    <a:schemeClr val="tx1"/>
                  </a:solidFill>
                </a:rPr>
                <a:t>Platform</a:t>
              </a:r>
              <a:r>
                <a:rPr lang="de-DE" sz="1100" dirty="0">
                  <a:solidFill>
                    <a:schemeClr val="tx1"/>
                  </a:solidFill>
                </a:rPr>
                <a:t>)</a:t>
              </a:r>
            </a:p>
          </p:txBody>
        </p:sp>
        <p:sp>
          <p:nvSpPr>
            <p:cNvPr id="38" name="Rechteck: diagonal liegende Ecken abgeschnitten 3">
              <a:extLst>
                <a:ext uri="{FF2B5EF4-FFF2-40B4-BE49-F238E27FC236}">
                  <a16:creationId xmlns:a16="http://schemas.microsoft.com/office/drawing/2014/main" id="{C114DFAC-5B1E-A506-43C4-039E9B227BBA}"/>
                </a:ext>
              </a:extLst>
            </p:cNvPr>
            <p:cNvSpPr/>
            <p:nvPr/>
          </p:nvSpPr>
          <p:spPr>
            <a:xfrm>
              <a:off x="1045031" y="4907241"/>
              <a:ext cx="1589315" cy="1033055"/>
            </a:xfrm>
            <a:prstGeom prst="snip2DiagRect">
              <a:avLst/>
            </a:prstGeom>
            <a:solidFill>
              <a:schemeClr val="bg1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394" b="1" dirty="0">
                  <a:solidFill>
                    <a:schemeClr val="tx1"/>
                  </a:solidFill>
                </a:rPr>
                <a:t>Project-level Locations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B23F499-57A4-E095-9A3B-36519D826EBE}"/>
                </a:ext>
              </a:extLst>
            </p:cNvPr>
            <p:cNvSpPr txBox="1"/>
            <p:nvPr/>
          </p:nvSpPr>
          <p:spPr>
            <a:xfrm>
              <a:off x="862694" y="5965668"/>
              <a:ext cx="19539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dirty="0"/>
                <a:t>ODP </a:t>
              </a:r>
              <a:r>
                <a:rPr lang="de-DE" sz="1200" dirty="0" err="1"/>
                <a:t>data</a:t>
              </a:r>
              <a:r>
                <a:rPr lang="de-DE" sz="1200" dirty="0"/>
                <a:t> </a:t>
              </a:r>
              <a:r>
                <a:rPr lang="de-DE" sz="1200" dirty="0" err="1"/>
                <a:t>resource</a:t>
              </a:r>
              <a:endParaRPr lang="de-DE" sz="1200" dirty="0"/>
            </a:p>
          </p:txBody>
        </p:sp>
        <p:sp>
          <p:nvSpPr>
            <p:cNvPr id="40" name="Diamond 39">
              <a:extLst>
                <a:ext uri="{FF2B5EF4-FFF2-40B4-BE49-F238E27FC236}">
                  <a16:creationId xmlns:a16="http://schemas.microsoft.com/office/drawing/2014/main" id="{7F493B9B-BA58-E97E-62B8-1D9C97A60978}"/>
                </a:ext>
              </a:extLst>
            </p:cNvPr>
            <p:cNvSpPr/>
            <p:nvPr/>
          </p:nvSpPr>
          <p:spPr>
            <a:xfrm>
              <a:off x="3086099" y="4542026"/>
              <a:ext cx="1763484" cy="1763484"/>
            </a:xfrm>
            <a:prstGeom prst="diamond">
              <a:avLst/>
            </a:prstGeom>
            <a:solidFill>
              <a:schemeClr val="tx2">
                <a:lumMod val="75000"/>
                <a:lumOff val="25000"/>
                <a:alpha val="40000"/>
              </a:schemeClr>
            </a:solidFill>
            <a:ln w="6985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900" b="1" dirty="0">
                  <a:solidFill>
                    <a:schemeClr val="tx1"/>
                  </a:solidFill>
                </a:rPr>
                <a:t>AGGREGATE DATA</a:t>
              </a:r>
            </a:p>
            <a:p>
              <a:pPr algn="ctr"/>
              <a:r>
                <a:rPr lang="de-DE" sz="1000" dirty="0">
                  <a:solidFill>
                    <a:schemeClr val="tx1"/>
                  </a:solidFill>
                </a:rPr>
                <a:t>(Python </a:t>
              </a:r>
              <a:r>
                <a:rPr lang="de-DE" sz="1000" dirty="0" err="1">
                  <a:solidFill>
                    <a:schemeClr val="tx1"/>
                  </a:solidFill>
                </a:rPr>
                <a:t>script</a:t>
              </a:r>
              <a:r>
                <a:rPr lang="de-DE" sz="1000" dirty="0">
                  <a:solidFill>
                    <a:schemeClr val="tx1"/>
                  </a:solidFill>
                </a:rPr>
                <a:t>)</a:t>
              </a:r>
            </a:p>
          </p:txBody>
        </p:sp>
        <p:sp>
          <p:nvSpPr>
            <p:cNvPr id="44" name="Rechteck: diagonal liegende Ecken abgeschnitten 3">
              <a:extLst>
                <a:ext uri="{FF2B5EF4-FFF2-40B4-BE49-F238E27FC236}">
                  <a16:creationId xmlns:a16="http://schemas.microsoft.com/office/drawing/2014/main" id="{C9DE56B7-5526-7D8E-3BE6-0CA53328BFC9}"/>
                </a:ext>
              </a:extLst>
            </p:cNvPr>
            <p:cNvSpPr/>
            <p:nvPr/>
          </p:nvSpPr>
          <p:spPr>
            <a:xfrm>
              <a:off x="5351742" y="4907241"/>
              <a:ext cx="1589315" cy="1033055"/>
            </a:xfrm>
            <a:prstGeom prst="snip2DiagRect">
              <a:avLst/>
            </a:prstGeom>
            <a:solidFill>
              <a:schemeClr val="bg1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394" b="1" dirty="0" err="1">
                  <a:solidFill>
                    <a:schemeClr val="tx1"/>
                  </a:solidFill>
                </a:rPr>
                <a:t>Departmental</a:t>
              </a:r>
              <a:r>
                <a:rPr lang="de-DE" sz="1394" b="1" dirty="0">
                  <a:solidFill>
                    <a:schemeClr val="tx1"/>
                  </a:solidFill>
                </a:rPr>
                <a:t>-level Project Locations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E15817F-B97F-68AB-3245-4EB8F547A013}"/>
                </a:ext>
              </a:extLst>
            </p:cNvPr>
            <p:cNvSpPr txBox="1"/>
            <p:nvPr/>
          </p:nvSpPr>
          <p:spPr>
            <a:xfrm>
              <a:off x="5169405" y="5961287"/>
              <a:ext cx="19539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dirty="0"/>
                <a:t>ODP </a:t>
              </a:r>
              <a:r>
                <a:rPr lang="de-DE" sz="1200" dirty="0" err="1"/>
                <a:t>data</a:t>
              </a:r>
              <a:r>
                <a:rPr lang="de-DE" sz="1200" dirty="0"/>
                <a:t> </a:t>
              </a:r>
              <a:r>
                <a:rPr lang="de-DE" sz="1200" dirty="0" err="1"/>
                <a:t>resource</a:t>
              </a:r>
              <a:endParaRPr lang="de-DE" sz="1200" dirty="0"/>
            </a:p>
          </p:txBody>
        </p:sp>
        <p:sp>
          <p:nvSpPr>
            <p:cNvPr id="47" name="Rechteck: diagonal liegende Ecken abgeschnitten 3">
              <a:extLst>
                <a:ext uri="{FF2B5EF4-FFF2-40B4-BE49-F238E27FC236}">
                  <a16:creationId xmlns:a16="http://schemas.microsoft.com/office/drawing/2014/main" id="{4048B378-5722-7FF5-8E48-FAA726EE0FE0}"/>
                </a:ext>
              </a:extLst>
            </p:cNvPr>
            <p:cNvSpPr/>
            <p:nvPr/>
          </p:nvSpPr>
          <p:spPr>
            <a:xfrm>
              <a:off x="9608059" y="4907239"/>
              <a:ext cx="1589315" cy="1033055"/>
            </a:xfrm>
            <a:prstGeom prst="snip2DiagRect">
              <a:avLst/>
            </a:prstGeom>
            <a:solidFill>
              <a:schemeClr val="bg1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394" b="1" dirty="0">
                  <a:solidFill>
                    <a:schemeClr val="tx1"/>
                  </a:solidFill>
                </a:rPr>
                <a:t>Portfolio </a:t>
              </a:r>
              <a:r>
                <a:rPr lang="de-DE" sz="1394" b="1" dirty="0" err="1">
                  <a:solidFill>
                    <a:schemeClr val="tx1"/>
                  </a:solidFill>
                </a:rPr>
                <a:t>map</a:t>
              </a:r>
              <a:endParaRPr lang="de-DE" sz="1394" b="1" dirty="0">
                <a:solidFill>
                  <a:schemeClr val="tx1"/>
                </a:solidFill>
              </a:endParaRPr>
            </a:p>
          </p:txBody>
        </p:sp>
        <p:sp>
          <p:nvSpPr>
            <p:cNvPr id="49" name="Diamond 48">
              <a:extLst>
                <a:ext uri="{FF2B5EF4-FFF2-40B4-BE49-F238E27FC236}">
                  <a16:creationId xmlns:a16="http://schemas.microsoft.com/office/drawing/2014/main" id="{0620E2EA-A973-0DF1-C759-D67E2063E3C8}"/>
                </a:ext>
              </a:extLst>
            </p:cNvPr>
            <p:cNvSpPr/>
            <p:nvPr/>
          </p:nvSpPr>
          <p:spPr>
            <a:xfrm>
              <a:off x="7392816" y="4542026"/>
              <a:ext cx="1763484" cy="1763484"/>
            </a:xfrm>
            <a:prstGeom prst="diamond">
              <a:avLst/>
            </a:prstGeom>
            <a:solidFill>
              <a:schemeClr val="bg1">
                <a:lumMod val="65000"/>
                <a:alpha val="40000"/>
              </a:schemeClr>
            </a:solidFill>
            <a:ln w="6985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b="1" dirty="0">
                  <a:solidFill>
                    <a:schemeClr val="tx1"/>
                  </a:solidFill>
                </a:rPr>
                <a:t>CREATE MAP </a:t>
              </a:r>
              <a:br>
                <a:rPr lang="de-DE" sz="1100" dirty="0">
                  <a:solidFill>
                    <a:schemeClr val="tx1"/>
                  </a:solidFill>
                </a:rPr>
              </a:br>
              <a:r>
                <a:rPr lang="de-DE" sz="1100" dirty="0">
                  <a:solidFill>
                    <a:schemeClr val="tx1"/>
                  </a:solidFill>
                </a:rPr>
                <a:t>(Open Data </a:t>
              </a:r>
              <a:r>
                <a:rPr lang="de-DE" sz="1100" dirty="0" err="1">
                  <a:solidFill>
                    <a:schemeClr val="tx1"/>
                  </a:solidFill>
                </a:rPr>
                <a:t>Platform</a:t>
              </a:r>
              <a:r>
                <a:rPr lang="de-DE" sz="1100" dirty="0">
                  <a:solidFill>
                    <a:schemeClr val="tx1"/>
                  </a:solidFill>
                </a:rPr>
                <a:t>)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DF5247C4-40EF-D6FA-6E8E-0ED49092AB5A}"/>
                </a:ext>
              </a:extLst>
            </p:cNvPr>
            <p:cNvCxnSpPr>
              <a:stCxn id="3" idx="3"/>
              <a:endCxn id="24" idx="2"/>
            </p:cNvCxnSpPr>
            <p:nvPr/>
          </p:nvCxnSpPr>
          <p:spPr>
            <a:xfrm>
              <a:off x="2721431" y="1070567"/>
              <a:ext cx="45175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989795B1-9A32-C0EA-85C8-A0CE731E830D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V="1">
              <a:off x="4762503" y="1070567"/>
              <a:ext cx="45175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896FEC46-866E-0A7A-5CEC-FE338D9C27EE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>
              <a:off x="6977743" y="1070567"/>
              <a:ext cx="45175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26366C7F-2C30-1B24-5AB2-0C6578D83F30}"/>
                </a:ext>
              </a:extLst>
            </p:cNvPr>
            <p:cNvSpPr txBox="1"/>
            <p:nvPr/>
          </p:nvSpPr>
          <p:spPr>
            <a:xfrm>
              <a:off x="9324929" y="5940294"/>
              <a:ext cx="19539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dirty="0"/>
                <a:t>ODP </a:t>
              </a:r>
              <a:r>
                <a:rPr lang="de-DE" sz="1200" dirty="0" err="1"/>
                <a:t>map</a:t>
              </a:r>
              <a:r>
                <a:rPr lang="de-DE" sz="1200" dirty="0"/>
                <a:t> </a:t>
              </a:r>
              <a:r>
                <a:rPr lang="de-DE" sz="1200" dirty="0" err="1"/>
                <a:t>resource</a:t>
              </a:r>
              <a:endParaRPr lang="de-DE" sz="1200" dirty="0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D06EBF-599E-A536-FD08-F10928824A61}"/>
                </a:ext>
              </a:extLst>
            </p:cNvPr>
            <p:cNvCxnSpPr>
              <a:stCxn id="31" idx="3"/>
              <a:endCxn id="37" idx="1"/>
            </p:cNvCxnSpPr>
            <p:nvPr/>
          </p:nvCxnSpPr>
          <p:spPr>
            <a:xfrm flipV="1">
              <a:off x="9150750" y="2961271"/>
              <a:ext cx="49953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Connector: Elbow 20">
              <a:extLst>
                <a:ext uri="{FF2B5EF4-FFF2-40B4-BE49-F238E27FC236}">
                  <a16:creationId xmlns:a16="http://schemas.microsoft.com/office/drawing/2014/main" id="{094AA5F8-F913-0D13-5872-7B3929EBDFC2}"/>
                </a:ext>
              </a:extLst>
            </p:cNvPr>
            <p:cNvCxnSpPr>
              <a:cxnSpLocks/>
              <a:stCxn id="37" idx="2"/>
              <a:endCxn id="38" idx="3"/>
            </p:cNvCxnSpPr>
            <p:nvPr/>
          </p:nvCxnSpPr>
          <p:spPr>
            <a:xfrm rot="5400000">
              <a:off x="5653746" y="28957"/>
              <a:ext cx="1064228" cy="8692341"/>
            </a:xfrm>
            <a:prstGeom prst="bentConnector3">
              <a:avLst>
                <a:gd name="adj1" fmla="val 35014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F923DB9-4592-783D-9695-C31ADF9008B2}"/>
                </a:ext>
              </a:extLst>
            </p:cNvPr>
            <p:cNvCxnSpPr>
              <a:stCxn id="38" idx="0"/>
              <a:endCxn id="40" idx="1"/>
            </p:cNvCxnSpPr>
            <p:nvPr/>
          </p:nvCxnSpPr>
          <p:spPr>
            <a:xfrm flipV="1">
              <a:off x="2634346" y="5423768"/>
              <a:ext cx="45175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C6FB526-D9B0-35FC-B9A5-75217536D3F7}"/>
                </a:ext>
              </a:extLst>
            </p:cNvPr>
            <p:cNvCxnSpPr>
              <a:stCxn id="40" idx="3"/>
              <a:endCxn id="44" idx="2"/>
            </p:cNvCxnSpPr>
            <p:nvPr/>
          </p:nvCxnSpPr>
          <p:spPr>
            <a:xfrm>
              <a:off x="4849583" y="5423768"/>
              <a:ext cx="50215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2E26C68-6374-EBB9-6F12-BFB77F4996E1}"/>
                </a:ext>
              </a:extLst>
            </p:cNvPr>
            <p:cNvCxnSpPr>
              <a:stCxn id="44" idx="0"/>
              <a:endCxn id="49" idx="1"/>
            </p:cNvCxnSpPr>
            <p:nvPr/>
          </p:nvCxnSpPr>
          <p:spPr>
            <a:xfrm flipV="1">
              <a:off x="6941057" y="5423768"/>
              <a:ext cx="45175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97327CD-612E-F827-9BCA-F80BCED161C2}"/>
                </a:ext>
              </a:extLst>
            </p:cNvPr>
            <p:cNvCxnSpPr>
              <a:stCxn id="49" idx="3"/>
              <a:endCxn id="47" idx="2"/>
            </p:cNvCxnSpPr>
            <p:nvPr/>
          </p:nvCxnSpPr>
          <p:spPr>
            <a:xfrm flipV="1">
              <a:off x="9156300" y="5423767"/>
              <a:ext cx="45175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319D3BFF-D412-E053-2B13-13378E468A13}"/>
                </a:ext>
              </a:extLst>
            </p:cNvPr>
            <p:cNvCxnSpPr>
              <a:stCxn id="29" idx="1"/>
              <a:endCxn id="31" idx="0"/>
            </p:cNvCxnSpPr>
            <p:nvPr/>
          </p:nvCxnSpPr>
          <p:spPr>
            <a:xfrm flipH="1">
              <a:off x="8224156" y="1587095"/>
              <a:ext cx="1" cy="44758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47400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3FE640-FA76-EED5-2AD9-80DCAFF49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99" y="697740"/>
            <a:ext cx="10751002" cy="54625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0DAB1D2-EB35-6AF7-BBA5-B608BA1A39B8}"/>
              </a:ext>
            </a:extLst>
          </p:cNvPr>
          <p:cNvSpPr/>
          <p:nvPr/>
        </p:nvSpPr>
        <p:spPr>
          <a:xfrm>
            <a:off x="4016828" y="3429000"/>
            <a:ext cx="4158343" cy="9688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Project Locations Model (PLM) - v4</a:t>
            </a:r>
          </a:p>
          <a:p>
            <a:pPr algn="ctr"/>
            <a:r>
              <a:rPr lang="de-DE" dirty="0">
                <a:solidFill>
                  <a:schemeClr val="tx1"/>
                </a:solidFill>
                <a:hlinkClick r:id="rId3"/>
              </a:rPr>
              <a:t>link</a:t>
            </a:r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258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5D9CC-BE9D-41A7-0559-0FAC5F6E9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4CC4BD-28DE-C7E4-906B-7175FD4A3561}"/>
              </a:ext>
            </a:extLst>
          </p:cNvPr>
          <p:cNvSpPr txBox="1"/>
          <p:nvPr/>
        </p:nvSpPr>
        <p:spPr>
          <a:xfrm>
            <a:off x="6033233" y="894647"/>
            <a:ext cx="4960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/>
              <a:t>Geometry-</a:t>
            </a:r>
            <a:r>
              <a:rPr lang="de-DE" sz="1600" b="1" dirty="0" err="1"/>
              <a:t>based</a:t>
            </a:r>
            <a:r>
              <a:rPr lang="de-DE" sz="1600" b="1" dirty="0"/>
              <a:t> Project Locations/ </a:t>
            </a:r>
            <a:r>
              <a:rPr lang="de-DE" sz="1600" dirty="0">
                <a:hlinkClick r:id="rId2"/>
              </a:rPr>
              <a:t>Tutorial</a:t>
            </a:r>
            <a:endParaRPr lang="de-DE" sz="1600" dirty="0"/>
          </a:p>
          <a:p>
            <a:r>
              <a:rPr lang="de-DE" sz="1600" b="1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D29A9C-95D4-3B9F-9347-F7F855AC978D}"/>
              </a:ext>
            </a:extLst>
          </p:cNvPr>
          <p:cNvSpPr txBox="1"/>
          <p:nvPr/>
        </p:nvSpPr>
        <p:spPr>
          <a:xfrm>
            <a:off x="1557761" y="894648"/>
            <a:ext cx="4514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/>
              <a:t>Points-</a:t>
            </a:r>
            <a:r>
              <a:rPr lang="de-DE" sz="1600" b="1" dirty="0" err="1"/>
              <a:t>based</a:t>
            </a:r>
            <a:r>
              <a:rPr lang="de-DE" sz="1600" b="1" dirty="0"/>
              <a:t> Project Locations</a:t>
            </a:r>
            <a:endParaRPr lang="de-DE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3D7901-B77B-C62E-A3F9-EC65F641F222}"/>
              </a:ext>
            </a:extLst>
          </p:cNvPr>
          <p:cNvSpPr txBox="1"/>
          <p:nvPr/>
        </p:nvSpPr>
        <p:spPr>
          <a:xfrm>
            <a:off x="1557761" y="1233202"/>
            <a:ext cx="2969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i="1" dirty="0" err="1"/>
              <a:t>Required</a:t>
            </a:r>
            <a:r>
              <a:rPr lang="de-DE" sz="1400" i="1" dirty="0"/>
              <a:t>: </a:t>
            </a:r>
            <a:r>
              <a:rPr lang="de-DE" sz="1400" dirty="0"/>
              <a:t>Project Locations Model (PLM) </a:t>
            </a:r>
            <a:r>
              <a:rPr lang="de-DE" sz="1400" dirty="0" err="1"/>
              <a:t>with</a:t>
            </a:r>
            <a:r>
              <a:rPr lang="de-DE" sz="1400" dirty="0"/>
              <a:t> </a:t>
            </a:r>
            <a:r>
              <a:rPr lang="de-DE" sz="1400" dirty="0" err="1"/>
              <a:t>point</a:t>
            </a:r>
            <a:r>
              <a:rPr lang="de-DE" sz="1400" dirty="0"/>
              <a:t> </a:t>
            </a:r>
            <a:r>
              <a:rPr lang="de-DE" sz="1400" dirty="0" err="1"/>
              <a:t>coordinates</a:t>
            </a:r>
            <a:r>
              <a:rPr lang="de-DE" sz="1400" dirty="0"/>
              <a:t> </a:t>
            </a:r>
            <a:r>
              <a:rPr lang="de-DE" sz="1400" dirty="0" err="1"/>
              <a:t>filled</a:t>
            </a:r>
            <a:endParaRPr lang="de-DE" sz="14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7D79571-4EAB-6F97-0E3F-D9AE9FCC1FBD}"/>
              </a:ext>
            </a:extLst>
          </p:cNvPr>
          <p:cNvGrpSpPr/>
          <p:nvPr/>
        </p:nvGrpSpPr>
        <p:grpSpPr>
          <a:xfrm>
            <a:off x="6096000" y="2759163"/>
            <a:ext cx="4704967" cy="3262668"/>
            <a:chOff x="6363526" y="2753869"/>
            <a:chExt cx="4704967" cy="326266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1D13C91-DF59-4E17-3C23-24DF5700FB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3526" y="2848170"/>
              <a:ext cx="694814" cy="584775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E07FEB5-F870-1326-08C6-4D2F25BB2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14341" y="2753869"/>
              <a:ext cx="1233897" cy="1458097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A2B37ED-B7DB-3AB5-DA70-5BD1109DF145}"/>
                </a:ext>
              </a:extLst>
            </p:cNvPr>
            <p:cNvSpPr/>
            <p:nvPr/>
          </p:nvSpPr>
          <p:spPr>
            <a:xfrm>
              <a:off x="6830861" y="3571444"/>
              <a:ext cx="574158" cy="58477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B122408-9C7F-2571-7156-D24A922B24EF}"/>
                </a:ext>
              </a:extLst>
            </p:cNvPr>
            <p:cNvGrpSpPr/>
            <p:nvPr/>
          </p:nvGrpSpPr>
          <p:grpSpPr>
            <a:xfrm>
              <a:off x="8014340" y="4627480"/>
              <a:ext cx="1233897" cy="1389057"/>
              <a:chOff x="8779891" y="4244701"/>
              <a:chExt cx="1233897" cy="1389057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174C25FB-8D2F-C94E-48AD-FCEA37AEB4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9891" y="4244701"/>
                <a:ext cx="1233897" cy="1389057"/>
              </a:xfrm>
              <a:prstGeom prst="rect">
                <a:avLst/>
              </a:prstGeom>
            </p:spPr>
          </p:pic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B0B34C8-C7FA-C091-DCF9-9E403E88A288}"/>
                  </a:ext>
                </a:extLst>
              </p:cNvPr>
              <p:cNvSpPr/>
              <p:nvPr/>
            </p:nvSpPr>
            <p:spPr>
              <a:xfrm>
                <a:off x="9176326" y="4873677"/>
                <a:ext cx="755074" cy="33217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000" b="1" dirty="0" err="1">
                    <a:solidFill>
                      <a:schemeClr val="tx1"/>
                    </a:solidFill>
                  </a:rPr>
                  <a:t>GeoJSON</a:t>
                </a:r>
                <a:endParaRPr lang="de-DE" sz="10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7E8E40C-502E-4CFB-84DD-9CCB2E091B3A}"/>
                </a:ext>
              </a:extLst>
            </p:cNvPr>
            <p:cNvSpPr/>
            <p:nvPr/>
          </p:nvSpPr>
          <p:spPr>
            <a:xfrm>
              <a:off x="8143453" y="2908950"/>
              <a:ext cx="298686" cy="885500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8306D8A-36A0-7C54-DDB2-DFBA05A0C843}"/>
                </a:ext>
              </a:extLst>
            </p:cNvPr>
            <p:cNvSpPr txBox="1"/>
            <p:nvPr/>
          </p:nvSpPr>
          <p:spPr>
            <a:xfrm>
              <a:off x="9840377" y="3734912"/>
              <a:ext cx="122811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dirty="0">
                  <a:solidFill>
                    <a:srgbClr val="00B050"/>
                  </a:solidFill>
                </a:rPr>
                <a:t>At least 1 </a:t>
              </a:r>
              <a:r>
                <a:rPr lang="de-DE" sz="1400" dirty="0" err="1">
                  <a:solidFill>
                    <a:srgbClr val="00B050"/>
                  </a:solidFill>
                </a:rPr>
                <a:t>common</a:t>
              </a:r>
              <a:r>
                <a:rPr lang="de-DE" sz="1400" dirty="0">
                  <a:solidFill>
                    <a:srgbClr val="00B050"/>
                  </a:solidFill>
                </a:rPr>
                <a:t> </a:t>
              </a:r>
              <a:r>
                <a:rPr lang="de-DE" sz="1400" dirty="0" err="1">
                  <a:solidFill>
                    <a:srgbClr val="00B050"/>
                  </a:solidFill>
                </a:rPr>
                <a:t>column</a:t>
              </a:r>
              <a:r>
                <a:rPr lang="de-DE" sz="1400" dirty="0">
                  <a:solidFill>
                    <a:srgbClr val="00B050"/>
                  </a:solidFill>
                </a:rPr>
                <a:t> in </a:t>
              </a:r>
              <a:r>
                <a:rPr lang="de-DE" sz="1400" dirty="0" err="1">
                  <a:solidFill>
                    <a:srgbClr val="00B050"/>
                  </a:solidFill>
                </a:rPr>
                <a:t>both</a:t>
              </a:r>
              <a:r>
                <a:rPr lang="de-DE" sz="1400" dirty="0">
                  <a:solidFill>
                    <a:srgbClr val="00B050"/>
                  </a:solidFill>
                </a:rPr>
                <a:t> </a:t>
              </a:r>
              <a:r>
                <a:rPr lang="de-DE" sz="1400" dirty="0" err="1">
                  <a:solidFill>
                    <a:srgbClr val="00B050"/>
                  </a:solidFill>
                </a:rPr>
                <a:t>files</a:t>
              </a:r>
              <a:endParaRPr lang="de-DE" sz="1400" dirty="0">
                <a:solidFill>
                  <a:srgbClr val="00B050"/>
                </a:solidFill>
              </a:endParaRPr>
            </a:p>
          </p:txBody>
        </p:sp>
        <p:sp>
          <p:nvSpPr>
            <p:cNvPr id="32" name="Right Bracket 31">
              <a:extLst>
                <a:ext uri="{FF2B5EF4-FFF2-40B4-BE49-F238E27FC236}">
                  <a16:creationId xmlns:a16="http://schemas.microsoft.com/office/drawing/2014/main" id="{BD8E9DE8-DA21-3485-387D-7D730EF99896}"/>
                </a:ext>
              </a:extLst>
            </p:cNvPr>
            <p:cNvSpPr/>
            <p:nvPr/>
          </p:nvSpPr>
          <p:spPr>
            <a:xfrm>
              <a:off x="9521448" y="3200500"/>
              <a:ext cx="45719" cy="2256939"/>
            </a:xfrm>
            <a:prstGeom prst="rightBracket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322DCB5-B7A3-0E5C-B30D-5A7419FC2249}"/>
                </a:ext>
              </a:extLst>
            </p:cNvPr>
            <p:cNvSpPr/>
            <p:nvPr/>
          </p:nvSpPr>
          <p:spPr>
            <a:xfrm>
              <a:off x="8528949" y="3208317"/>
              <a:ext cx="810210" cy="49332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000" b="1" dirty="0">
                  <a:solidFill>
                    <a:schemeClr val="tx1"/>
                  </a:solidFill>
                </a:rPr>
                <a:t>XLSX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0419B4D-3958-882F-640E-1FDEA256CC65}"/>
              </a:ext>
            </a:extLst>
          </p:cNvPr>
          <p:cNvGrpSpPr/>
          <p:nvPr/>
        </p:nvGrpSpPr>
        <p:grpSpPr>
          <a:xfrm>
            <a:off x="1613187" y="2199289"/>
            <a:ext cx="2821718" cy="2017971"/>
            <a:chOff x="1880713" y="2300322"/>
            <a:chExt cx="2821718" cy="201797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6231FA4-D90F-8D62-527A-B370FB66F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0713" y="2973869"/>
              <a:ext cx="409480" cy="546029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C6B821E-29FD-D8A3-DB26-9A53734535A6}"/>
                </a:ext>
              </a:extLst>
            </p:cNvPr>
            <p:cNvGrpSpPr/>
            <p:nvPr/>
          </p:nvGrpSpPr>
          <p:grpSpPr>
            <a:xfrm>
              <a:off x="2884676" y="2860196"/>
              <a:ext cx="1233897" cy="1458097"/>
              <a:chOff x="1557761" y="2005095"/>
              <a:chExt cx="1233897" cy="1458097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DB329B04-18F4-6672-11E7-F11780D3FB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57761" y="2005095"/>
                <a:ext cx="1233897" cy="1458097"/>
              </a:xfrm>
              <a:prstGeom prst="rect">
                <a:avLst/>
              </a:prstGeom>
            </p:spPr>
          </p:pic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0EEB789-5AFF-BD73-D5AF-C9568583B492}"/>
                  </a:ext>
                </a:extLst>
              </p:cNvPr>
              <p:cNvSpPr/>
              <p:nvPr/>
            </p:nvSpPr>
            <p:spPr>
              <a:xfrm>
                <a:off x="1672849" y="2159000"/>
                <a:ext cx="685800" cy="885500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  <a:alpha val="50000"/>
                </a:schemeClr>
              </a:solidFill>
              <a:ln w="381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20" name="Right Brace 19">
              <a:extLst>
                <a:ext uri="{FF2B5EF4-FFF2-40B4-BE49-F238E27FC236}">
                  <a16:creationId xmlns:a16="http://schemas.microsoft.com/office/drawing/2014/main" id="{C00E47C6-2043-653D-78FB-9D0AAC1702FD}"/>
                </a:ext>
              </a:extLst>
            </p:cNvPr>
            <p:cNvSpPr/>
            <p:nvPr/>
          </p:nvSpPr>
          <p:spPr>
            <a:xfrm rot="16200000">
              <a:off x="3265951" y="2375823"/>
              <a:ext cx="92426" cy="710885"/>
            </a:xfrm>
            <a:prstGeom prst="rightBrace">
              <a:avLst/>
            </a:prstGeom>
            <a:ln w="28575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E2E9632-23C4-E6CE-DF93-744C3FD10A87}"/>
                </a:ext>
              </a:extLst>
            </p:cNvPr>
            <p:cNvSpPr txBox="1"/>
            <p:nvPr/>
          </p:nvSpPr>
          <p:spPr>
            <a:xfrm>
              <a:off x="1921896" y="2300322"/>
              <a:ext cx="27805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Latitude and </a:t>
              </a:r>
              <a:r>
                <a:rPr lang="de-DE" sz="1400" dirty="0" err="1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Longitude</a:t>
              </a:r>
              <a:r>
                <a:rPr lang="de-DE" sz="14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de-DE" sz="1400" dirty="0" err="1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columns</a:t>
              </a:r>
              <a:endParaRPr lang="de-DE" sz="14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0F8FC50-6BA4-3E55-FC2F-D3E6D4377BDC}"/>
                </a:ext>
              </a:extLst>
            </p:cNvPr>
            <p:cNvSpPr/>
            <p:nvPr/>
          </p:nvSpPr>
          <p:spPr>
            <a:xfrm>
              <a:off x="3427867" y="3329482"/>
              <a:ext cx="810210" cy="49332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000" b="1" dirty="0">
                  <a:solidFill>
                    <a:schemeClr val="tx1"/>
                  </a:solidFill>
                </a:rPr>
                <a:t>XLSX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9EE25AD4-A8F8-F488-88CA-BF89184A8D97}"/>
              </a:ext>
            </a:extLst>
          </p:cNvPr>
          <p:cNvSpPr txBox="1"/>
          <p:nvPr/>
        </p:nvSpPr>
        <p:spPr>
          <a:xfrm>
            <a:off x="6033232" y="1190484"/>
            <a:ext cx="4702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i="1" dirty="0" err="1"/>
              <a:t>Required</a:t>
            </a:r>
            <a:r>
              <a:rPr lang="de-DE" sz="1400" i="1" dirty="0"/>
              <a:t>:</a:t>
            </a:r>
            <a:r>
              <a:rPr lang="de-DE" sz="1400" dirty="0"/>
              <a:t> Project Locations Model (PLM) </a:t>
            </a:r>
            <a:r>
              <a:rPr lang="de-DE" sz="1400" dirty="0" err="1"/>
              <a:t>joint</a:t>
            </a:r>
            <a:r>
              <a:rPr lang="de-DE" sz="1400" dirty="0"/>
              <a:t> </a:t>
            </a:r>
            <a:r>
              <a:rPr lang="de-DE" sz="1400" dirty="0" err="1"/>
              <a:t>to</a:t>
            </a:r>
            <a:r>
              <a:rPr lang="de-DE" sz="1400" dirty="0"/>
              <a:t> </a:t>
            </a:r>
            <a:r>
              <a:rPr lang="de-DE" sz="1400" dirty="0" err="1"/>
              <a:t>GeoJSON</a:t>
            </a:r>
            <a:r>
              <a:rPr lang="de-DE" sz="1400" dirty="0"/>
              <a:t> </a:t>
            </a:r>
            <a:r>
              <a:rPr lang="de-DE" sz="1400" dirty="0" err="1"/>
              <a:t>geometry</a:t>
            </a:r>
            <a:r>
              <a:rPr lang="de-DE" sz="1400" dirty="0"/>
              <a:t> </a:t>
            </a:r>
            <a:r>
              <a:rPr lang="de-DE" sz="1400" dirty="0" err="1"/>
              <a:t>file</a:t>
            </a:r>
            <a:r>
              <a:rPr lang="de-DE" sz="1400" dirty="0"/>
              <a:t> </a:t>
            </a:r>
            <a:r>
              <a:rPr lang="de-DE" sz="1400" dirty="0" err="1"/>
              <a:t>based</a:t>
            </a:r>
            <a:r>
              <a:rPr lang="de-DE" sz="1400" dirty="0"/>
              <a:t> on a </a:t>
            </a:r>
            <a:r>
              <a:rPr lang="de-DE" sz="1400" dirty="0" err="1"/>
              <a:t>common</a:t>
            </a:r>
            <a:r>
              <a:rPr lang="de-DE" sz="1400" dirty="0"/>
              <a:t> </a:t>
            </a:r>
            <a:r>
              <a:rPr lang="de-DE" sz="1400" dirty="0" err="1"/>
              <a:t>column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data</a:t>
            </a:r>
            <a:endParaRPr lang="de-DE" sz="14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A0AE5C-D313-8B05-D25A-291E8309ADD6}"/>
              </a:ext>
            </a:extLst>
          </p:cNvPr>
          <p:cNvSpPr/>
          <p:nvPr/>
        </p:nvSpPr>
        <p:spPr>
          <a:xfrm>
            <a:off x="7875928" y="4884553"/>
            <a:ext cx="298686" cy="11275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8196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8D192-BB04-3959-593D-7580BAFFB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E2BD4E-76E1-42C3-33A3-D0A6D4006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104" y="1547935"/>
            <a:ext cx="9760452" cy="42010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B0C15A-08AC-14A4-D4EE-F20EE8EAB853}"/>
              </a:ext>
            </a:extLst>
          </p:cNvPr>
          <p:cNvSpPr txBox="1"/>
          <p:nvPr/>
        </p:nvSpPr>
        <p:spPr>
          <a:xfrm>
            <a:off x="763104" y="644277"/>
            <a:ext cx="4514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/>
              <a:t>Online </a:t>
            </a:r>
            <a:r>
              <a:rPr lang="de-DE" sz="1600" b="1" dirty="0" err="1"/>
              <a:t>validator</a:t>
            </a:r>
            <a:r>
              <a:rPr lang="de-DE" sz="1600" b="1" dirty="0"/>
              <a:t>/ </a:t>
            </a:r>
            <a:r>
              <a:rPr lang="de-DE" sz="1600" dirty="0">
                <a:hlinkClick r:id="rId3"/>
              </a:rPr>
              <a:t>Link</a:t>
            </a:r>
            <a:endParaRPr lang="de-DE" sz="1600" dirty="0"/>
          </a:p>
          <a:p>
            <a:r>
              <a:rPr lang="de-DE" sz="1600" dirty="0" err="1"/>
              <a:t>Example</a:t>
            </a:r>
            <a:r>
              <a:rPr lang="de-DE" sz="1600" dirty="0"/>
              <a:t> </a:t>
            </a:r>
            <a:r>
              <a:rPr lang="de-DE" sz="1600" dirty="0" err="1"/>
              <a:t>of</a:t>
            </a:r>
            <a:r>
              <a:rPr lang="de-DE" sz="1600" dirty="0"/>
              <a:t> </a:t>
            </a:r>
            <a:r>
              <a:rPr lang="de-DE" sz="1600" dirty="0" err="1"/>
              <a:t>errors</a:t>
            </a:r>
            <a:r>
              <a:rPr lang="de-DE" sz="1600" dirty="0"/>
              <a:t> in </a:t>
            </a:r>
            <a:r>
              <a:rPr lang="de-DE" sz="1600" dirty="0" err="1"/>
              <a:t>validation</a:t>
            </a:r>
            <a:r>
              <a:rPr lang="de-DE" sz="1600" dirty="0"/>
              <a:t> </a:t>
            </a:r>
            <a:r>
              <a:rPr lang="de-DE" sz="1600" dirty="0" err="1"/>
              <a:t>result</a:t>
            </a:r>
            <a:endParaRPr lang="de-DE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163AAE-7885-4C34-B2AB-FED0E79672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256"/>
          <a:stretch>
            <a:fillRect/>
          </a:stretch>
        </p:blipFill>
        <p:spPr>
          <a:xfrm>
            <a:off x="4929237" y="3959347"/>
            <a:ext cx="6499657" cy="240879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95867F-0E56-A29D-29AD-62A7CB99FE8A}"/>
              </a:ext>
            </a:extLst>
          </p:cNvPr>
          <p:cNvSpPr/>
          <p:nvPr/>
        </p:nvSpPr>
        <p:spPr>
          <a:xfrm>
            <a:off x="9241971" y="5181600"/>
            <a:ext cx="1861857" cy="7217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1"/>
                </a:solidFill>
              </a:rPr>
              <a:t>No</a:t>
            </a:r>
            <a:r>
              <a:rPr lang="de-DE" sz="1400" dirty="0">
                <a:solidFill>
                  <a:schemeClr val="tx1"/>
                </a:solidFill>
              </a:rPr>
              <a:t> Project Locations </a:t>
            </a:r>
            <a:r>
              <a:rPr lang="de-DE" sz="1400" dirty="0" err="1">
                <a:solidFill>
                  <a:schemeClr val="tx1"/>
                </a:solidFill>
              </a:rPr>
              <a:t>displayed</a:t>
            </a:r>
            <a:endParaRPr lang="de-DE" sz="1400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278C901-7B61-CA33-CEF1-E0D93518C90B}"/>
              </a:ext>
            </a:extLst>
          </p:cNvPr>
          <p:cNvCxnSpPr>
            <a:cxnSpLocks/>
          </p:cNvCxnSpPr>
          <p:nvPr/>
        </p:nvCxnSpPr>
        <p:spPr>
          <a:xfrm flipH="1">
            <a:off x="4626429" y="1425833"/>
            <a:ext cx="151404" cy="2505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7C636B1-6DF8-EA38-E873-D11D7A0141D0}"/>
              </a:ext>
            </a:extLst>
          </p:cNvPr>
          <p:cNvSpPr txBox="1"/>
          <p:nvPr/>
        </p:nvSpPr>
        <p:spPr>
          <a:xfrm>
            <a:off x="4614544" y="1067291"/>
            <a:ext cx="4514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/>
              <a:t>GeoJSON</a:t>
            </a:r>
            <a:r>
              <a:rPr lang="de-DE" sz="1400" dirty="0"/>
              <a:t> will not </a:t>
            </a:r>
            <a:r>
              <a:rPr lang="de-DE" sz="1400" dirty="0" err="1"/>
              <a:t>be</a:t>
            </a:r>
            <a:r>
              <a:rPr lang="de-DE" sz="1400" dirty="0"/>
              <a:t> </a:t>
            </a:r>
            <a:r>
              <a:rPr lang="de-DE" sz="1400" dirty="0" err="1"/>
              <a:t>generated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56644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0A0C6-01EC-E8D9-91B0-5AAD2B06C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791316-6AAE-DBF8-391E-2DCC4D7EDD1A}"/>
              </a:ext>
            </a:extLst>
          </p:cNvPr>
          <p:cNvSpPr txBox="1"/>
          <p:nvPr/>
        </p:nvSpPr>
        <p:spPr>
          <a:xfrm>
            <a:off x="763104" y="644277"/>
            <a:ext cx="4514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/>
              <a:t>Online </a:t>
            </a:r>
            <a:r>
              <a:rPr lang="de-DE" sz="1600" b="1" dirty="0" err="1"/>
              <a:t>validator</a:t>
            </a:r>
            <a:r>
              <a:rPr lang="de-DE" sz="1600" b="1" dirty="0"/>
              <a:t>/ </a:t>
            </a:r>
            <a:r>
              <a:rPr lang="de-DE" sz="1600" dirty="0">
                <a:hlinkClick r:id="rId2"/>
              </a:rPr>
              <a:t>Link</a:t>
            </a:r>
            <a:endParaRPr lang="de-DE" sz="1600" dirty="0"/>
          </a:p>
          <a:p>
            <a:r>
              <a:rPr lang="de-DE" sz="1600" dirty="0" err="1"/>
              <a:t>Example</a:t>
            </a:r>
            <a:r>
              <a:rPr lang="de-DE" sz="1600" dirty="0"/>
              <a:t> </a:t>
            </a:r>
            <a:r>
              <a:rPr lang="de-DE" sz="1600" dirty="0" err="1"/>
              <a:t>error-free</a:t>
            </a:r>
            <a:r>
              <a:rPr lang="de-DE" sz="1600" dirty="0"/>
              <a:t> </a:t>
            </a:r>
            <a:r>
              <a:rPr lang="de-DE" sz="1600" dirty="0" err="1"/>
              <a:t>validation</a:t>
            </a:r>
            <a:r>
              <a:rPr lang="de-DE" sz="1600" dirty="0"/>
              <a:t> </a:t>
            </a:r>
            <a:r>
              <a:rPr lang="de-DE" sz="1600" dirty="0" err="1"/>
              <a:t>result</a:t>
            </a:r>
            <a:endParaRPr lang="de-D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305349-21A4-8ECD-6F7D-B3D5B80D3AD9}"/>
              </a:ext>
            </a:extLst>
          </p:cNvPr>
          <p:cNvSpPr/>
          <p:nvPr/>
        </p:nvSpPr>
        <p:spPr>
          <a:xfrm>
            <a:off x="6963362" y="4085422"/>
            <a:ext cx="2431409" cy="9688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err="1">
                <a:solidFill>
                  <a:schemeClr val="tx1"/>
                </a:solidFill>
              </a:rPr>
              <a:t>No</a:t>
            </a:r>
            <a:r>
              <a:rPr lang="de-DE" sz="1600" dirty="0">
                <a:solidFill>
                  <a:schemeClr val="tx1"/>
                </a:solidFill>
              </a:rPr>
              <a:t> Project Locations </a:t>
            </a:r>
            <a:r>
              <a:rPr lang="de-DE" sz="1600" dirty="0" err="1">
                <a:solidFill>
                  <a:schemeClr val="tx1"/>
                </a:solidFill>
              </a:rPr>
              <a:t>displayed</a:t>
            </a:r>
            <a:endParaRPr lang="de-DE" sz="16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1B0851-5C40-5E6B-46E5-029048E92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104" y="1502136"/>
            <a:ext cx="9754101" cy="32450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103105-4C2D-45F4-0B2C-4C83636899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5608"/>
          <a:stretch>
            <a:fillRect/>
          </a:stretch>
        </p:blipFill>
        <p:spPr>
          <a:xfrm>
            <a:off x="4929239" y="4184123"/>
            <a:ext cx="6512675" cy="234348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6994502-B1C2-0893-EABB-37A32C0E509D}"/>
              </a:ext>
            </a:extLst>
          </p:cNvPr>
          <p:cNvSpPr/>
          <p:nvPr/>
        </p:nvSpPr>
        <p:spPr>
          <a:xfrm>
            <a:off x="2449286" y="5054250"/>
            <a:ext cx="2166656" cy="7913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Multi-</a:t>
            </a:r>
            <a:r>
              <a:rPr lang="de-DE" sz="1400" dirty="0" err="1">
                <a:solidFill>
                  <a:schemeClr val="tx1"/>
                </a:solidFill>
              </a:rPr>
              <a:t>geometry</a:t>
            </a:r>
            <a:r>
              <a:rPr lang="de-DE" sz="1400" dirty="0">
                <a:solidFill>
                  <a:schemeClr val="tx1"/>
                </a:solidFill>
              </a:rPr>
              <a:t> Project Locations </a:t>
            </a:r>
            <a:r>
              <a:rPr lang="de-DE" sz="1400" dirty="0" err="1">
                <a:solidFill>
                  <a:schemeClr val="tx1"/>
                </a:solidFill>
              </a:rPr>
              <a:t>displayed</a:t>
            </a:r>
            <a:endParaRPr lang="de-DE" sz="1400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ADA54AE-D626-BAFC-54D3-011FE22AE84A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5105400" y="905887"/>
            <a:ext cx="3459554" cy="1866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116C528-2BD3-D0F0-096D-3BB3C92FBFC1}"/>
              </a:ext>
            </a:extLst>
          </p:cNvPr>
          <p:cNvSpPr txBox="1"/>
          <p:nvPr/>
        </p:nvSpPr>
        <p:spPr>
          <a:xfrm>
            <a:off x="8564954" y="644277"/>
            <a:ext cx="28639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/>
              <a:t>GeoJSON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validated</a:t>
            </a:r>
            <a:r>
              <a:rPr lang="de-DE" sz="1400" dirty="0"/>
              <a:t> </a:t>
            </a:r>
            <a:r>
              <a:rPr lang="de-DE" sz="1400" dirty="0" err="1"/>
              <a:t>file</a:t>
            </a:r>
            <a:r>
              <a:rPr lang="de-DE" sz="1400" dirty="0"/>
              <a:t> </a:t>
            </a:r>
            <a:r>
              <a:rPr lang="de-DE" sz="1400" dirty="0" err="1"/>
              <a:t>is</a:t>
            </a:r>
            <a:r>
              <a:rPr lang="de-DE" sz="1400" dirty="0"/>
              <a:t> </a:t>
            </a:r>
            <a:r>
              <a:rPr lang="de-DE" sz="1400" dirty="0" err="1"/>
              <a:t>generated</a:t>
            </a:r>
            <a:r>
              <a:rPr lang="de-DE" sz="1400" dirty="0"/>
              <a:t> and </a:t>
            </a:r>
            <a:r>
              <a:rPr lang="de-DE" sz="1400" dirty="0" err="1"/>
              <a:t>can</a:t>
            </a:r>
            <a:r>
              <a:rPr lang="de-DE" sz="1400" dirty="0"/>
              <a:t> </a:t>
            </a:r>
            <a:r>
              <a:rPr lang="de-DE" sz="1400" dirty="0" err="1"/>
              <a:t>be</a:t>
            </a:r>
            <a:r>
              <a:rPr lang="de-DE" sz="1400" dirty="0"/>
              <a:t> </a:t>
            </a:r>
            <a:r>
              <a:rPr lang="de-DE" sz="1400" dirty="0" err="1"/>
              <a:t>downloaded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3159118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F9347-B225-6C82-D530-4CDE983CA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2B3045-294A-8276-B341-D52572F43380}"/>
              </a:ext>
            </a:extLst>
          </p:cNvPr>
          <p:cNvSpPr txBox="1"/>
          <p:nvPr/>
        </p:nvSpPr>
        <p:spPr>
          <a:xfrm>
            <a:off x="763104" y="644277"/>
            <a:ext cx="6594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/>
              <a:t>Upload </a:t>
            </a:r>
            <a:r>
              <a:rPr lang="de-DE" sz="1600" b="1" dirty="0" err="1"/>
              <a:t>validated</a:t>
            </a:r>
            <a:r>
              <a:rPr lang="de-DE" sz="1600" b="1" dirty="0"/>
              <a:t> </a:t>
            </a:r>
            <a:r>
              <a:rPr lang="de-DE" sz="1600" b="1" dirty="0" err="1"/>
              <a:t>GeoJSON</a:t>
            </a:r>
            <a:r>
              <a:rPr lang="de-DE" sz="1600" b="1" dirty="0"/>
              <a:t> </a:t>
            </a:r>
            <a:r>
              <a:rPr lang="de-DE" sz="1600" b="1" dirty="0" err="1"/>
              <a:t>to</a:t>
            </a:r>
            <a:r>
              <a:rPr lang="de-DE" sz="1600" b="1" dirty="0"/>
              <a:t> Open Data </a:t>
            </a:r>
            <a:r>
              <a:rPr lang="de-DE" sz="1600" b="1" dirty="0" err="1"/>
              <a:t>Platform</a:t>
            </a:r>
            <a:r>
              <a:rPr lang="de-DE" sz="1600" b="1" dirty="0"/>
              <a:t> (ODP)/ </a:t>
            </a:r>
            <a:r>
              <a:rPr lang="de-DE" sz="1600" dirty="0">
                <a:hlinkClick r:id="rId2"/>
              </a:rPr>
              <a:t>Tutorial</a:t>
            </a:r>
            <a:endParaRPr lang="de-DE" sz="16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434A489-F926-8BE0-6129-D762B5226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104" y="1310812"/>
            <a:ext cx="10359377" cy="18204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EF8B0DB-948A-FF0B-706B-4370AEA2B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731" y="2602322"/>
            <a:ext cx="6760767" cy="361496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69196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</Words>
  <Application>Microsoft Office PowerPoint</Application>
  <PresentationFormat>Widescreen</PresentationFormat>
  <Paragraphs>50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Chow, Candace (extern)</dc:creator>
  <cp:lastModifiedBy>Chow, Candace (extern)</cp:lastModifiedBy>
  <cp:revision>68</cp:revision>
  <dcterms:created xsi:type="dcterms:W3CDTF">2026-06-18T13:12:54Z</dcterms:created>
  <dcterms:modified xsi:type="dcterms:W3CDTF">2026-06-26T09:42:31Z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41296cb-daaa-4831-9a4b-d786ffd3b5af_Enabled">
    <vt:lpwstr>true</vt:lpwstr>
  </property>
  <property fmtid="{D5CDD505-2E9C-101B-9397-08002B2CF9AE}" pid="3" name="MSIP_Label_841296cb-daaa-4831-9a4b-d786ffd3b5af_SetDate">
    <vt:lpwstr>2026-06-18T13:14:14Z</vt:lpwstr>
  </property>
  <property fmtid="{D5CDD505-2E9C-101B-9397-08002B2CF9AE}" pid="4" name="MSIP_Label_841296cb-daaa-4831-9a4b-d786ffd3b5af_Method">
    <vt:lpwstr>Privileged</vt:lpwstr>
  </property>
  <property fmtid="{D5CDD505-2E9C-101B-9397-08002B2CF9AE}" pid="5" name="MSIP_Label_841296cb-daaa-4831-9a4b-d786ffd3b5af_Name">
    <vt:lpwstr>public_</vt:lpwstr>
  </property>
  <property fmtid="{D5CDD505-2E9C-101B-9397-08002B2CF9AE}" pid="6" name="MSIP_Label_841296cb-daaa-4831-9a4b-d786ffd3b5af_SiteId">
    <vt:lpwstr>05ca8f81-10c4-490e-9c8b-77dad30ce21b</vt:lpwstr>
  </property>
  <property fmtid="{D5CDD505-2E9C-101B-9397-08002B2CF9AE}" pid="7" name="MSIP_Label_841296cb-daaa-4831-9a4b-d786ffd3b5af_ActionId">
    <vt:lpwstr>ed05401d-78e3-48da-87e8-439e59daaba6</vt:lpwstr>
  </property>
  <property fmtid="{D5CDD505-2E9C-101B-9397-08002B2CF9AE}" pid="8" name="MSIP_Label_841296cb-daaa-4831-9a4b-d786ffd3b5af_ContentBits">
    <vt:lpwstr>0</vt:lpwstr>
  </property>
  <property fmtid="{D5CDD505-2E9C-101B-9397-08002B2CF9AE}" pid="9" name="MSIP_Label_841296cb-daaa-4831-9a4b-d786ffd3b5af_Tag">
    <vt:lpwstr>10, 0, 1, 1</vt:lpwstr>
  </property>
</Properties>
</file>